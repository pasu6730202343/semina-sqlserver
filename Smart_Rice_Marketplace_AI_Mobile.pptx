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0"/>
            <a:ext cx="4690872" cy="6858000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2651760" cy="5212080"/>
          </a:xfrm>
          <a:prstGeom prst="roundRect">
            <a:avLst>
              <a:gd name="adj" fmla="val 12069"/>
            </a:avLst>
          </a:prstGeom>
          <a:solidFill>
            <a:srgbClr val="1F3B30"/>
          </a:solidFill>
          <a:ln w="38100">
            <a:solidFill>
              <a:srgbClr val="D9A5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097280"/>
            <a:ext cx="2286000" cy="4663440"/>
          </a:xfrm>
          <a:prstGeom prst="roundRect">
            <a:avLst>
              <a:gd name="adj" fmla="val 8000"/>
            </a:avLst>
          </a:prstGeom>
          <a:solidFill>
            <a:srgbClr val="F7F7F2"/>
          </a:solidFill>
          <a:ln w="12700">
            <a:solidFill>
              <a:srgbClr val="F7F7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19202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73252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Smart Rice AI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ถ่ายรูปข้าว → ได้เกรด + ราคา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052560" y="475488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D9A52B"/>
          </a:solidFill>
          <a:ln w="12700">
            <a:solidFill>
              <a:srgbClr val="D9A5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52560" y="4754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สแกนข้าว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INTERNET PROGRAMMING · FINAL PROJECT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64592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Smart Rice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Marketplace - AI</a:t>
            </a:r>
            <a:endParaRPr lang="en-US" sz="5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611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4EE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แอปมือถือ (React Native) ตลาดกลางซื้อขายข้าวออนไลน์ ที่ใช้ AI วิเคราะห์คุณภาพเมล็ดข้าวจากรูปถ่าย และแนะนำราคาขายให้เกษตรกรแบบทันที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สมาชิกกลุ่ม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1023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นาย ธันวา วัฒนาภิรมย์สกุล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5102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6730202653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4681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นาย จิรเมธ เบิกบาน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54681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6730202068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8338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นาย พสุ เผยฤทัย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58338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6730202343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PROBLEM &amp; 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ปัญหาที่เกษตรกรเจอจริง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731520" cy="731520"/>
          </a:xfrm>
          <a:prstGeom prst="ellipse">
            <a:avLst/>
          </a:prstGeom>
          <a:solidFill>
            <a:srgbClr val="F6E4D6"/>
          </a:solidFill>
          <a:ln w="12700">
            <a:solidFill>
              <a:srgbClr val="F6E4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40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75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ตั้งราคาไม่เหมาะสม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56032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ขายถูกหรือแพงเกินจริง เพราะไม่มีข้อมูลอ้างอิงที่น่าเชื่อถือ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2057400"/>
            <a:ext cx="731520" cy="731520"/>
          </a:xfrm>
          <a:prstGeom prst="ellipse">
            <a:avLst/>
          </a:prstGeom>
          <a:solidFill>
            <a:srgbClr val="F6E4D6"/>
          </a:solidFill>
          <a:ln w="12700">
            <a:solidFill>
              <a:srgbClr val="F6E4D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2402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2075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ไม่รู้ราคาตลาด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256032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ไม่ทราบราคาตลาดของข้าวแต่ละเกรดในแต่ละวัน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56616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3840480"/>
            <a:ext cx="731520" cy="731520"/>
          </a:xfrm>
          <a:prstGeom prst="ellipse">
            <a:avLst/>
          </a:prstGeom>
          <a:solidFill>
            <a:srgbClr val="F6E4D6"/>
          </a:solidFill>
          <a:ln w="12700">
            <a:solidFill>
              <a:srgbClr val="F6E4D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0233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38587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หาผู้ซื้อยาก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43434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ต้องพึ่งพ่อค้าคนกลางในการหาผู้รับซื้อ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72200" y="356616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3840480"/>
            <a:ext cx="731520" cy="731520"/>
          </a:xfrm>
          <a:prstGeom prst="ellipse">
            <a:avLst/>
          </a:prstGeom>
          <a:solidFill>
            <a:srgbClr val="F6E4D6"/>
          </a:solidFill>
          <a:ln w="12700">
            <a:solidFill>
              <a:srgbClr val="F6E4D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0233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38587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ถูกกดราคา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7360920" y="43434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พ่อค้าคนกลางกดราคารับซื้อจากเกษตรกร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F3B30"/>
          </a:solidFill>
          <a:ln w="12700">
            <a:solidFill>
              <a:srgbClr val="1F3B30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68680" y="544068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แนวทางแก้: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แอปมือถือตลาดกลางที่ให้ราคาอ้างอิงจาก AI และเชื่อมเกษตรกรกับผู้ซื้อโดยตรง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 USERS &amp; STAKEHOLDERS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ผู้ใช้งานและความต้องการ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822960" cy="822960"/>
          </a:xfrm>
          <a:prstGeom prst="ellipse">
            <a:avLst/>
          </a:prstGeom>
          <a:solidFill>
            <a:srgbClr val="D9A52B"/>
          </a:solidFill>
          <a:ln w="12700">
            <a:solidFill>
              <a:srgbClr val="D9A5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2631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057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Seller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เกษตรกร / ผู้ขายข้าว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2461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ตั้งราคาข้าวได้แม่นยำ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ขายตรงถึงผู้ซื้อ ไม่ผ่านคนกลาง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ติดตามออเดอร์ที่เข้ามา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15968" y="178308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0288" y="2057400"/>
            <a:ext cx="822960" cy="82296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28" y="22631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96128" y="2057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Buyer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5596128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ผู้ซื้อ / ร้านค้า / โรงสี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636008" y="32461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ค้นหาสินค้าได้ง่าย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มั่นใจคุณภาพที่ AI ตรวจแล้ว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สั่งซื้อและติดตามสถานะได้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083296" y="178308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57616" y="2057400"/>
            <a:ext cx="822960" cy="822960"/>
          </a:xfrm>
          <a:prstGeom prst="ellipse">
            <a:avLst/>
          </a:prstGeom>
          <a:solidFill>
            <a:srgbClr val="B5652E"/>
          </a:solidFill>
          <a:ln w="12700">
            <a:solidFill>
              <a:srgbClr val="B5652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356" y="22631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363456" y="2057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9363456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ผู้ดูแลระบบ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403336" y="32461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ดูแลผู้ใช้และสินค้าในระบบ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ตรวจสอบความถูกต้องของข้อมูล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ดูภาพรวมผ่าน Admin Dashboard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Stakeholders อื่น: </a:t>
            </a:r>
            <a:pPr indent="0" marL="0">
              <a:buNone/>
            </a:pPr>
            <a:r>
              <a:rPr lang="en-US" sz="15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โรงสี · สหกรณ์การเกษตร · หน่วยงานข้อมูลราคาข้าว (อ้างอิงราคาตลาด) · ผู้ให้บริการขนส่ง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แอปมือถือตลาดกลางข้าว ขับเคลื่อนด้วย AI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E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Native mobile app (React Native) ที่ให้เกษตรกรถ่ายรูปข้าวหรือเลือกรูปจากเครื่อง ให้ AI ประเมินคุณภาพและแนะนำราคาก่อนลงขาย แล้วขายตรงถึงผู้ซื้อได้ทันที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97480"/>
            <a:ext cx="731520" cy="731520"/>
          </a:xfrm>
          <a:prstGeom prst="ellipse">
            <a:avLst/>
          </a:prstGeom>
          <a:solidFill>
            <a:srgbClr val="FBF0D9"/>
          </a:solidFill>
          <a:ln w="12700">
            <a:solidFill>
              <a:srgbClr val="FBF0D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8803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566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ตรวจคุณภาพข้าว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0233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ถ่ายรูปในแอป สแกนเมล็ดข้าวด้วย YOLOv8 ได้ % เมล็ดหักและราคาแนะนำทันที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64992" y="24688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39312" y="2697480"/>
            <a:ext cx="731520" cy="731520"/>
          </a:xfrm>
          <a:prstGeom prst="ellipse">
            <a:avLst/>
          </a:prstGeom>
          <a:solidFill>
            <a:srgbClr val="FBF0D9"/>
          </a:solidFill>
          <a:ln w="12700">
            <a:solidFill>
              <a:srgbClr val="FBF0D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8803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39312" y="3566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ตลาดกลางซื้อขายตรง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639312" y="40233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เห็นชื่อผู้ขายจริงในหน้าสินค้า ไม่ผ่านคนกลาง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81344" y="24688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55664" y="2697480"/>
            <a:ext cx="731520" cy="731520"/>
          </a:xfrm>
          <a:prstGeom prst="ellipse">
            <a:avLst/>
          </a:prstGeom>
          <a:solidFill>
            <a:srgbClr val="FBF0D9"/>
          </a:solidFill>
          <a:ln w="12700">
            <a:solidFill>
              <a:srgbClr val="FBF0D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28803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55664" y="3566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ออเดอร์เรียลไทม์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455664" y="40233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ตัดสต็อกอัตโนมัติ ผู้ขายอัปเดตสถานะออเดอร์ได้จากมือถือ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997696" y="24688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272016" y="2697480"/>
            <a:ext cx="731520" cy="731520"/>
          </a:xfrm>
          <a:prstGeom prst="ellipse">
            <a:avLst/>
          </a:prstGeom>
          <a:solidFill>
            <a:srgbClr val="FBF0D9"/>
          </a:solidFill>
          <a:ln w="12700">
            <a:solidFill>
              <a:srgbClr val="FBF0D9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28803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72016" y="3566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 3 บทบาท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9272016" y="40233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Buyer / Seller / Admin แยกสิทธิ์ชัดเจน ยืนยันตัวตนด้วย Email OTP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คุณค่า (Value):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ราคาที่แม่นยำขึ้น + การซื้อขายที่โปร่งใสขึ้น สำหรับทั้งเกษตรกรและผู้ซื้อ — ใช้งานได้ทุกที่ในแปลงนา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CHANGED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จากเว็บแอป สู่แอปมือถือ (React Native)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8463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FBF0D9"/>
          </a:solidFill>
          <a:ln w="12700">
            <a:solidFill>
              <a:srgbClr val="FBF0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717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เวอร์ชันเดิม: Web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Next.js (React) + Tailwind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01752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เปิดผ่าน browser บนมือถือ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เข้าถึงกล้อง/รูปผ่าน input file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 session ใน localStorage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responsive layout ด้วย Tailwind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577840" y="3108960"/>
            <a:ext cx="1005840" cy="640080"/>
          </a:xfrm>
          <a:prstGeom prst="rightArrow">
            <a:avLst/>
          </a:prstGeom>
          <a:solidFill>
            <a:srgbClr val="D9A52B"/>
          </a:solidFill>
          <a:ln w="12700">
            <a:solidFill>
              <a:srgbClr val="D9A52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93992" y="1783080"/>
            <a:ext cx="4846320" cy="3657600"/>
          </a:xfrm>
          <a:prstGeom prst="roundRect">
            <a:avLst>
              <a:gd name="adj" fmla="val 2500"/>
            </a:avLst>
          </a:prstGeom>
          <a:solidFill>
            <a:srgbClr val="1F3B30"/>
          </a:solidFill>
          <a:ln w="12700">
            <a:solidFill>
              <a:srgbClr val="1F3B3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68312" y="2011680"/>
            <a:ext cx="640080" cy="640080"/>
          </a:xfrm>
          <a:prstGeom prst="ellipse">
            <a:avLst/>
          </a:prstGeom>
          <a:solidFill>
            <a:srgbClr val="D9A52B"/>
          </a:solidFill>
          <a:ln w="12700">
            <a:solidFill>
              <a:srgbClr val="D9A52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332" y="21717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91272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เวอร์ชันใหม่: Mobile App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891272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D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React Native + Expo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114032" y="301752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ติดตั้งและรันบนมือถือจริง (Android / iOS)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ถ่ายรูปด้วยกล้องโดยตรง (expo-image-picker)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 token/session ด้วย AsyncStorage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นำทางด้วย React Navigation (native stack)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7150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สิ่งที่ไม่เปลี่ยน: </a:t>
            </a:r>
            <a:pPr indent="0" marL="0">
              <a:buNone/>
            </a:pPr>
            <a:r>
              <a:rPr lang="en-US" sz="16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Backend FastAPI + MySQL + โมเดล YOLOv8 ใช้ร่วมกันทั้งเว็บและแอป ผ่าน REST API ชุดเดียวกัน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VALUE PROPOSITION &amp; COMPETITORS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805672" y="36576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FBF0D9"/>
          </a:solidFill>
          <a:ln w="12700">
            <a:solidFill>
              <a:srgbClr val="D9A5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805672" y="3657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Business Program Design &amp; Dev.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เทียบกับวิธีขายข้าวแบบเดิม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406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463040"/>
                <a:gridCol w="1737360"/>
                <a:gridCol w="155448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หัวข้อเปรียบเทียบ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พ่อค้าคนกลาง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กลุ่ม Facebook / LINE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Smart Rice AI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52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ราคาอ้างอิงที่เชื่อถือได้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B03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✕</a:t>
                      </a:r>
                      <a:endParaRPr lang="en-US" sz="2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B03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✕</a:t>
                      </a:r>
                      <a:endParaRPr lang="en-US" sz="2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6B4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✓</a:t>
                      </a:r>
                      <a:endParaRPr lang="en-US" sz="2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ตรวจคุณภาพเมล็ดข้าว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565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ใช้สายตา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B03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✕</a:t>
                      </a:r>
                      <a:endParaRPr lang="en-US" sz="2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6B4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✓</a:t>
                      </a:r>
                      <a:endParaRPr lang="en-US" sz="2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ติดต่อผู้ซื้อโดยตรง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B03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✕</a:t>
                      </a:r>
                      <a:endParaRPr lang="en-US" sz="2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6B4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✓</a:t>
                      </a:r>
                      <a:endParaRPr lang="en-US" sz="2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6B4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✓</a:t>
                      </a:r>
                      <a:endParaRPr lang="en-US" sz="2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ติดตามสถานะออเดอร์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B03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✕</a:t>
                      </a:r>
                      <a:endParaRPr lang="en-US" sz="2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B03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✕</a:t>
                      </a:r>
                      <a:endParaRPr lang="en-US" sz="2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6B4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✓</a:t>
                      </a:r>
                      <a:endParaRPr lang="en-US" sz="2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ใช้งานบนมือถือในแปลงนา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565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ต้องนัดพบ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565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ปานกลาง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6B4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✓</a:t>
                      </a:r>
                      <a:endParaRPr lang="en-US" sz="2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783080"/>
            <a:ext cx="3410712" cy="3840480"/>
          </a:xfrm>
          <a:prstGeom prst="roundRect">
            <a:avLst>
              <a:gd name="adj" fmla="val 2681"/>
            </a:avLst>
          </a:prstGeom>
          <a:solidFill>
            <a:srgbClr val="1F3B30"/>
          </a:solidFill>
          <a:ln w="12700">
            <a:solidFill>
              <a:srgbClr val="1F3B3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03920" y="2011680"/>
            <a:ext cx="640080" cy="640080"/>
          </a:xfrm>
          <a:prstGeom prst="ellipse">
            <a:avLst/>
          </a:prstGeom>
          <a:solidFill>
            <a:srgbClr val="D9A52B"/>
          </a:solidFill>
          <a:ln w="12700">
            <a:solidFill>
              <a:srgbClr val="D9A52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3940" y="21717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28116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503920" y="288036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เกษตรกร: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รู้ราคาที่ควรขายภายในไม่กี่วินาที ไม่ถูกกดราคา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ผู้ซื้อ: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เห็นผลตรวจคุณภาพก่อนซื้อ และคุยกับผู้ขายตัวจริง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จุดต่างหลัก: เป็นช่องทางเดียวที่รวม "ราคาอ้างอิงจาก AI" + "ขายตรง" + "ติดตามออเดอร์" ไว้ในแอปมือถือเดียว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BUSINESS MODEL CANVAS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805672" y="36576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FBF0D9"/>
          </a:solidFill>
          <a:ln w="12700">
            <a:solidFill>
              <a:srgbClr val="D9A5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805672" y="3657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Business Program Design &amp; Dev.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โมเดลธุรกิจของแพลตฟอร์ม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176272" cy="301752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373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Key Partners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57400"/>
            <a:ext cx="19019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สหกรณ์การเกษตร / กลุ่มเกษตรกร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โรงสีและร้านค้าข้าว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แหล่งข้อมูลราคาข้าวอ้างอิง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ผู้ให้บริการขนส่ง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16352" y="1645920"/>
            <a:ext cx="217627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53512" y="17373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Key Activities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53512" y="205740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เทรน/ปรับปรุงโมเดล AI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พัฒนาแอปมือถือ + Backend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16352" y="3200400"/>
            <a:ext cx="217627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53512" y="329184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Key Resources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53512" y="361188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 YOLOv8 + Dataset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ฐานข้อมูลสินค้า/ราคา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ทีมพัฒนาระบบ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84064" y="1645920"/>
            <a:ext cx="2176272" cy="3017520"/>
          </a:xfrm>
          <a:prstGeom prst="roundRect">
            <a:avLst>
              <a:gd name="adj" fmla="val 4202"/>
            </a:avLst>
          </a:prstGeom>
          <a:solidFill>
            <a:srgbClr val="FBF0D9"/>
          </a:solidFill>
          <a:ln w="12700">
            <a:solidFill>
              <a:srgbClr val="D9A5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21224" y="17373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Value Propositions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21224" y="2057400"/>
            <a:ext cx="19019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ราคาแนะนำจาก AI ภายในไม่กี่วินาที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ขายตรง ไม่ผ่านคนกลาง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ผู้ซื้อเห็นผลตรวจก่อนซื้อ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ติดตามออเดอร์ได้ตลอด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51776" y="1645920"/>
            <a:ext cx="217627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88936" y="17373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Customer Relations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88936" y="205740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Self-service ผ่านแอป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ยืนยันตัวตน Email OTP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51776" y="3200400"/>
            <a:ext cx="217627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88936" y="329184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Channels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88936" y="361188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Mobile app (Android / iOS)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สหกรณ์ / กลุ่มเกษตรกร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Social media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19488" y="1645920"/>
            <a:ext cx="2176272" cy="301752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56648" y="17373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Customer Segments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756648" y="2057400"/>
            <a:ext cx="19019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Seller: เกษตรกรรายย่อย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Buyer: ร้านค้า / โรงสี / ผู้ซื้อทั่วไป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754880"/>
            <a:ext cx="45720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4846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Cost Structure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1663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 Server / Hosting และฐานข้อมูล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ค่าเทรนและดูแลโมเดล AI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ค่าการตลาดเพื่อเข้าถึงเกษตรกร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12080" y="4754880"/>
            <a:ext cx="642823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49240" y="4846320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Revenue Streams (แนวคิด)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5166360"/>
            <a:ext cx="6153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ค่าธรรมเนียมเล็กน้อยต่อออเดอร์ที่สำเร็จ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แพ็กเกจ Premium ให้โรงสี (ข้อมูลราคาเชิงลึก)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พื้นที่โฆษณาสินค้าเกษตร (ปุ๋ย / เครื่องจักร)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&amp; BUSINESS PROCESS (SWIMLANE)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805672" y="36576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FBF0D9"/>
          </a:solidFill>
          <a:ln w="12700">
            <a:solidFill>
              <a:srgbClr val="D9A5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805672" y="3657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Business Program Design &amp; Dev.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ตั้งแต่ถ่ายรูปข้าว จนถึงออเดอร์สำเร็จ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234440" cy="1005840"/>
          </a:xfrm>
          <a:prstGeom prst="rect">
            <a:avLst/>
          </a:prstGeom>
          <a:solidFill>
            <a:srgbClr val="D9A5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459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Seller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83080" y="1645920"/>
            <a:ext cx="985723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51760"/>
            <a:ext cx="1234440" cy="1005840"/>
          </a:xfrm>
          <a:prstGeom prst="rect">
            <a:avLst/>
          </a:prstGeom>
          <a:solidFill>
            <a:srgbClr val="2E6B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517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/ System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783080" y="2651760"/>
            <a:ext cx="985723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657600"/>
            <a:ext cx="1234440" cy="1005840"/>
          </a:xfrm>
          <a:prstGeom prst="rect">
            <a:avLst/>
          </a:prstGeom>
          <a:solidFill>
            <a:srgbClr val="B565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65760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Buyer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783080" y="3657600"/>
            <a:ext cx="985723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663440"/>
            <a:ext cx="1234440" cy="777240"/>
          </a:xfrm>
          <a:prstGeom prst="rect">
            <a:avLst/>
          </a:prstGeom>
          <a:solidFill>
            <a:srgbClr val="5F6B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663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783080" y="4663440"/>
            <a:ext cx="985723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74520" y="1792224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FBF0D9"/>
          </a:solidFill>
          <a:ln w="15875">
            <a:solidFill>
              <a:srgbClr val="D9A5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20240" y="1792224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เลือกพันธุ์ &amp; ถ่ายรูป/เลือกรูปในแอป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798064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3F0E9"/>
          </a:solidFill>
          <a:ln w="15875">
            <a:solidFill>
              <a:srgbClr val="2E6B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37560" y="2798064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YOLOv8 วิเคราะห์ภาพ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697480"/>
            <a:ext cx="1280160" cy="9144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E6B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2880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ตรวจพบเมล็ดข้าว?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792224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FBF0D9"/>
          </a:solidFill>
          <a:ln w="15875">
            <a:solidFill>
              <a:srgbClr val="D9A5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1792224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ถ่ายใหม่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798064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3F0E9"/>
          </a:solidFill>
          <a:ln w="15875">
            <a:solidFill>
              <a:srgbClr val="2E6B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2200" y="2798064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 % หัก + ราคาแนะนำ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1792224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FBF0D9"/>
          </a:solidFill>
          <a:ln w="15875">
            <a:solidFill>
              <a:srgbClr val="D9A5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72200" y="1792224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ยืนยันราคา &amp; ลงขาย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43800" y="3803904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F6E4D6"/>
          </a:solidFill>
          <a:ln w="15875">
            <a:solidFill>
              <a:srgbClr val="B5652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0" y="3803904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ค้นหาสินค้า &amp; สั่งซื้อ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15400" y="2697480"/>
            <a:ext cx="1280160" cy="9144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E6B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44000" y="2880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สต็อกพอหรือไม่?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61120" y="3803904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F6E4D6"/>
          </a:solidFill>
          <a:ln w="15875">
            <a:solidFill>
              <a:srgbClr val="B5652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06840" y="3803904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แจ้งเตือนสต็อกไม่พอ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378440" y="2798064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3F0E9"/>
          </a:solidFill>
          <a:ln w="15875">
            <a:solidFill>
              <a:srgbClr val="2E6B4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424160" y="2798064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ตัดสต็อก + สร้างออเดอร์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378440" y="1792224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FBF0D9"/>
          </a:solidFill>
          <a:ln w="15875">
            <a:solidFill>
              <a:srgbClr val="D9A52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424160" y="1792224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รับออเดอร์ &amp; อัปเดตสถานะ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468880" y="2505456"/>
            <a:ext cx="0" cy="649224"/>
          </a:xfrm>
          <a:prstGeom prst="line">
            <a:avLst/>
          </a:prstGeom>
          <a:noFill/>
          <a:ln w="19050">
            <a:solidFill>
              <a:srgbClr val="1F3B3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468880" y="3154680"/>
            <a:ext cx="822960" cy="0"/>
          </a:xfrm>
          <a:prstGeom prst="line">
            <a:avLst/>
          </a:prstGeom>
          <a:noFill/>
          <a:ln w="19050">
            <a:solidFill>
              <a:srgbClr val="1F3B3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480560" y="3154680"/>
            <a:ext cx="182880" cy="0"/>
          </a:xfrm>
          <a:prstGeom prst="line">
            <a:avLst/>
          </a:prstGeom>
          <a:noFill/>
          <a:ln w="19050">
            <a:solidFill>
              <a:srgbClr val="1F3B3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5303520" y="2505456"/>
            <a:ext cx="0" cy="192024"/>
          </a:xfrm>
          <a:prstGeom prst="line">
            <a:avLst/>
          </a:prstGeom>
          <a:noFill/>
          <a:ln w="19050">
            <a:solidFill>
              <a:srgbClr val="B5652E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5376672" y="24414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43600" y="3154680"/>
            <a:ext cx="182880" cy="0"/>
          </a:xfrm>
          <a:prstGeom prst="line">
            <a:avLst/>
          </a:prstGeom>
          <a:noFill/>
          <a:ln w="19050">
            <a:solidFill>
              <a:srgbClr val="1F3B30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5943600" y="29169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ใช่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 flipV="1">
            <a:off x="6720840" y="2505456"/>
            <a:ext cx="0" cy="292608"/>
          </a:xfrm>
          <a:prstGeom prst="line">
            <a:avLst/>
          </a:prstGeom>
          <a:noFill/>
          <a:ln w="19050">
            <a:solidFill>
              <a:srgbClr val="1F3B30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315200" y="2148840"/>
            <a:ext cx="91440" cy="0"/>
          </a:xfrm>
          <a:prstGeom prst="line">
            <a:avLst/>
          </a:prstGeom>
          <a:noFill/>
          <a:ln w="19050">
            <a:solidFill>
              <a:srgbClr val="1F3B3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2148840"/>
            <a:ext cx="0" cy="2011680"/>
          </a:xfrm>
          <a:prstGeom prst="line">
            <a:avLst/>
          </a:prstGeom>
          <a:noFill/>
          <a:ln w="19050">
            <a:solidFill>
              <a:srgbClr val="1F3B3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06640" y="4160520"/>
            <a:ext cx="137160" cy="0"/>
          </a:xfrm>
          <a:prstGeom prst="line">
            <a:avLst/>
          </a:prstGeom>
          <a:noFill/>
          <a:ln w="19050">
            <a:solidFill>
              <a:srgbClr val="1F3B30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8138160" y="3154680"/>
            <a:ext cx="0" cy="649224"/>
          </a:xfrm>
          <a:prstGeom prst="line">
            <a:avLst/>
          </a:prstGeom>
          <a:noFill/>
          <a:ln w="19050">
            <a:solidFill>
              <a:srgbClr val="1F3B3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138160" y="3154680"/>
            <a:ext cx="777240" cy="0"/>
          </a:xfrm>
          <a:prstGeom prst="line">
            <a:avLst/>
          </a:prstGeom>
          <a:noFill/>
          <a:ln w="19050">
            <a:solidFill>
              <a:srgbClr val="1F3B30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0195560" y="3154680"/>
            <a:ext cx="182880" cy="0"/>
          </a:xfrm>
          <a:prstGeom prst="line">
            <a:avLst/>
          </a:prstGeom>
          <a:noFill/>
          <a:ln w="19050">
            <a:solidFill>
              <a:srgbClr val="1F3B30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10195560" y="29169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พอ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555480" y="3611880"/>
            <a:ext cx="0" cy="192024"/>
          </a:xfrm>
          <a:prstGeom prst="line">
            <a:avLst/>
          </a:prstGeom>
          <a:noFill/>
          <a:ln w="19050">
            <a:solidFill>
              <a:srgbClr val="B5652E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9628632" y="3611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 flipV="1">
            <a:off x="10972800" y="2505456"/>
            <a:ext cx="0" cy="292608"/>
          </a:xfrm>
          <a:prstGeom prst="line">
            <a:avLst/>
          </a:prstGeom>
          <a:noFill/>
          <a:ln w="19050">
            <a:solidFill>
              <a:srgbClr val="1F3B30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1965960" y="4754880"/>
            <a:ext cx="9491472" cy="594360"/>
          </a:xfrm>
          <a:prstGeom prst="roundRect">
            <a:avLst>
              <a:gd name="adj" fmla="val 9231"/>
            </a:avLst>
          </a:prstGeom>
          <a:solidFill>
            <a:srgbClr val="EEF1EC"/>
          </a:solidFill>
          <a:ln w="12700">
            <a:solidFill>
              <a:srgbClr val="DADAD2"/>
            </a:solidFill>
            <a:prstDash val="dash"/>
          </a:ln>
        </p:spPr>
      </p:sp>
      <p:sp>
        <p:nvSpPr>
          <p:cNvPr id="59" name="Text 57"/>
          <p:cNvSpPr txBox="1"/>
          <p:nvPr/>
        </p:nvSpPr>
        <p:spPr>
          <a:xfrm>
            <a:off x="2057400" y="4754880"/>
            <a:ext cx="9308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ตรวจสอบผู้ใช้ · สินค้า · ออเดอร์ตลอดกระบวนการ ผ่าน Admin Dashboard (เปิด/ปิดบัญชี, แก้ไขข้อมูลผิดพลาด)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สถาปัตยกรรมระบบ และสถานะออเดอร์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93392"/>
            <a:ext cx="640080" cy="640080"/>
          </a:xfrm>
          <a:prstGeom prst="ellipse">
            <a:avLst/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153412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933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มือถือจริง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377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Android / iOS (Expo)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017520" y="2308860"/>
            <a:ext cx="405384" cy="0"/>
          </a:xfrm>
          <a:prstGeom prst="line">
            <a:avLst/>
          </a:prstGeom>
          <a:noFill/>
          <a:ln w="19050">
            <a:solidFill>
              <a:srgbClr val="2E6B4F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2971800" y="2007108"/>
            <a:ext cx="496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HTTP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422904" y="173736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05784" y="1993392"/>
            <a:ext cx="640080" cy="640080"/>
          </a:xfrm>
          <a:prstGeom prst="ellipse">
            <a:avLst/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804" y="2153412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383024" y="19933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Mobile App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383024" y="2377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React Native + Expo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891784" y="2308860"/>
            <a:ext cx="405384" cy="0"/>
          </a:xfrm>
          <a:prstGeom prst="line">
            <a:avLst/>
          </a:prstGeom>
          <a:noFill/>
          <a:ln w="19050">
            <a:solidFill>
              <a:srgbClr val="2E6B4F"/>
            </a:solidFill>
            <a:prstDash val="solid"/>
            <a:tailEnd type="triangle"/>
          </a:ln>
        </p:spPr>
      </p:sp>
      <p:sp>
        <p:nvSpPr>
          <p:cNvPr id="17" name="Text 13"/>
          <p:cNvSpPr txBox="1"/>
          <p:nvPr/>
        </p:nvSpPr>
        <p:spPr>
          <a:xfrm>
            <a:off x="5846064" y="2007108"/>
            <a:ext cx="496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REST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97168" y="173736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80048" y="1993392"/>
            <a:ext cx="640080" cy="640080"/>
          </a:xfrm>
          <a:prstGeom prst="ellipse">
            <a:avLst/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068" y="2153412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257288" y="19933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Backend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7257288" y="2377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FastAPI (Python)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766048" y="2308860"/>
            <a:ext cx="405384" cy="0"/>
          </a:xfrm>
          <a:prstGeom prst="line">
            <a:avLst/>
          </a:prstGeom>
          <a:noFill/>
          <a:ln w="19050">
            <a:solidFill>
              <a:srgbClr val="2E6B4F"/>
            </a:solidFill>
            <a:prstDash val="solid"/>
            <a:tailEnd type="triangle"/>
          </a:ln>
        </p:spPr>
      </p:sp>
      <p:sp>
        <p:nvSpPr>
          <p:cNvPr id="24" name="Text 19"/>
          <p:cNvSpPr txBox="1"/>
          <p:nvPr/>
        </p:nvSpPr>
        <p:spPr>
          <a:xfrm>
            <a:off x="8720328" y="2007108"/>
            <a:ext cx="496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SQL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9171432" y="173736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354312" y="1993392"/>
            <a:ext cx="640080" cy="640080"/>
          </a:xfrm>
          <a:prstGeom prst="ellipse">
            <a:avLst/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4332" y="2153412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131552" y="19933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Database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10131552" y="2377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MySQL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5394960" y="34290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1F3B30"/>
          </a:solidFill>
          <a:ln w="12700">
            <a:solidFill>
              <a:srgbClr val="1F3B3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577840" y="3730752"/>
            <a:ext cx="548640" cy="548640"/>
          </a:xfrm>
          <a:prstGeom prst="ellipse">
            <a:avLst/>
          </a:prstGeom>
          <a:solidFill>
            <a:srgbClr val="D9A52B"/>
          </a:solidFill>
          <a:ln w="12700">
            <a:solidFill>
              <a:srgbClr val="D9A52B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867912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263640" y="3566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YOLOv8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6263640" y="390448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ตรวจจับเมล็ดสมบูรณ์ / หัก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229600" y="3429000"/>
            <a:ext cx="3410712" cy="1143000"/>
          </a:xfrm>
          <a:prstGeom prst="roundRect">
            <a:avLst>
              <a:gd name="adj" fmla="val 8000"/>
            </a:avLst>
          </a:prstGeom>
          <a:solidFill>
            <a:srgbClr val="1F3B30"/>
          </a:solidFill>
          <a:ln w="12700">
            <a:solidFill>
              <a:srgbClr val="1F3B30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412480" y="3730752"/>
            <a:ext cx="548640" cy="548640"/>
          </a:xfrm>
          <a:prstGeom prst="ellipse">
            <a:avLst/>
          </a:prstGeom>
          <a:solidFill>
            <a:srgbClr val="D9A52B"/>
          </a:solidFill>
          <a:ln w="12700">
            <a:solidFill>
              <a:srgbClr val="D9A52B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3867912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9098280" y="356616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API ราคาข้าวภาครัฐ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9098280" y="3904488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ดึงสด + cache ในหน่วยความจำ 1 ชม. (ไม่บันทึกลง DB)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6309360" y="2880360"/>
            <a:ext cx="0" cy="548640"/>
          </a:xfrm>
          <a:prstGeom prst="line">
            <a:avLst/>
          </a:prstGeom>
          <a:noFill/>
          <a:ln w="19050">
            <a:solidFill>
              <a:srgbClr val="2E6B4F"/>
            </a:solidFill>
            <a:prstDash val="solid"/>
            <a:tailEnd type="triangle"/>
          </a:ln>
        </p:spPr>
      </p:sp>
      <p:sp>
        <p:nvSpPr>
          <p:cNvPr id="41" name="Text 33"/>
          <p:cNvSpPr txBox="1"/>
          <p:nvPr/>
        </p:nvSpPr>
        <p:spPr>
          <a:xfrm>
            <a:off x="640080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ส่งภาพ / รับผล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7589520" y="2880360"/>
            <a:ext cx="0" cy="228600"/>
          </a:xfrm>
          <a:prstGeom prst="line">
            <a:avLst/>
          </a:prstGeom>
          <a:noFill/>
          <a:ln w="19050">
            <a:solidFill>
              <a:srgbClr val="2E6B4F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7589520" y="3108960"/>
            <a:ext cx="2331720" cy="0"/>
          </a:xfrm>
          <a:prstGeom prst="line">
            <a:avLst/>
          </a:prstGeom>
          <a:noFill/>
          <a:ln w="19050">
            <a:solidFill>
              <a:srgbClr val="2E6B4F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9921240" y="3108960"/>
            <a:ext cx="0" cy="320040"/>
          </a:xfrm>
          <a:prstGeom prst="line">
            <a:avLst/>
          </a:prstGeom>
          <a:noFill/>
          <a:ln w="19050">
            <a:solidFill>
              <a:srgbClr val="2E6B4F"/>
            </a:solidFill>
            <a:prstDash val="solid"/>
            <a:tailEnd type="triangle"/>
          </a:ln>
        </p:spPr>
      </p:sp>
      <p:sp>
        <p:nvSpPr>
          <p:cNvPr id="45" name="Text 37"/>
          <p:cNvSpPr txBox="1"/>
          <p:nvPr/>
        </p:nvSpPr>
        <p:spPr>
          <a:xfrm>
            <a:off x="7680960" y="2807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ขอราคาตลาด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7531608" y="2880360"/>
            <a:ext cx="0" cy="91"/>
          </a:xfrm>
          <a:prstGeom prst="line">
            <a:avLst/>
          </a:prstGeom>
          <a:noFill/>
          <a:ln w="12700">
            <a:solidFill>
              <a:srgbClr val="2E6B4F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548640" y="3429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Mobile App ⇄ Backend สื่อสารผ่าน REST API ทุกการทำงาน (Login, CRUD สินค้า, สั่งซื้อ, AI Grading) · เก็บ token ในเครื่องด้วย AsyncStorage</a:t>
            </a:r>
            <a:endParaRPr lang="en-US" sz="1300" dirty="0"/>
          </a:p>
        </p:txBody>
      </p:sp>
      <p:sp>
        <p:nvSpPr>
          <p:cNvPr id="48" name="Text 40"/>
          <p:cNvSpPr txBox="1"/>
          <p:nvPr/>
        </p:nvSpPr>
        <p:spPr>
          <a:xfrm>
            <a:off x="54864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สถานะออเดอร์ (order_rice.status)</a:t>
            </a:r>
            <a:endParaRPr lang="en-US" sz="1800" dirty="0"/>
          </a:p>
        </p:txBody>
      </p:sp>
      <p:sp>
        <p:nvSpPr>
          <p:cNvPr id="49" name="Shape 41"/>
          <p:cNvSpPr/>
          <p:nvPr/>
        </p:nvSpPr>
        <p:spPr>
          <a:xfrm>
            <a:off x="548640" y="5257800"/>
            <a:ext cx="2194560" cy="777240"/>
          </a:xfrm>
          <a:prstGeom prst="roundRect">
            <a:avLst>
              <a:gd name="adj" fmla="val 49412"/>
            </a:avLst>
          </a:prstGeom>
          <a:solidFill>
            <a:srgbClr val="D9A52B"/>
          </a:solidFill>
          <a:ln w="12700">
            <a:solidFill>
              <a:srgbClr val="D9A52B"/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548640" y="5257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รอยืนยัน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pending</a:t>
            </a:r>
            <a:endParaRPr lang="en-US" sz="1400" dirty="0"/>
          </a:p>
        </p:txBody>
      </p:sp>
      <p:sp>
        <p:nvSpPr>
          <p:cNvPr id="51" name="Shape 43"/>
          <p:cNvSpPr/>
          <p:nvPr/>
        </p:nvSpPr>
        <p:spPr>
          <a:xfrm>
            <a:off x="2743200" y="5641848"/>
            <a:ext cx="548640" cy="0"/>
          </a:xfrm>
          <a:prstGeom prst="line">
            <a:avLst/>
          </a:prstGeom>
          <a:noFill/>
          <a:ln w="19050">
            <a:solidFill>
              <a:srgbClr val="1F3B30"/>
            </a:solidFill>
            <a:prstDash val="solid"/>
            <a:tailEnd type="triangle"/>
          </a:ln>
        </p:spPr>
      </p:sp>
      <p:sp>
        <p:nvSpPr>
          <p:cNvPr id="52" name="Shape 44"/>
          <p:cNvSpPr/>
          <p:nvPr/>
        </p:nvSpPr>
        <p:spPr>
          <a:xfrm>
            <a:off x="3291840" y="5257800"/>
            <a:ext cx="2194560" cy="777240"/>
          </a:xfrm>
          <a:prstGeom prst="roundRect">
            <a:avLst>
              <a:gd name="adj" fmla="val 49412"/>
            </a:avLst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3291840" y="5257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ยืนยันแล้ว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confirmed</a:t>
            </a:r>
            <a:endParaRPr lang="en-US" sz="1400" dirty="0"/>
          </a:p>
        </p:txBody>
      </p:sp>
      <p:sp>
        <p:nvSpPr>
          <p:cNvPr id="54" name="Shape 46"/>
          <p:cNvSpPr/>
          <p:nvPr/>
        </p:nvSpPr>
        <p:spPr>
          <a:xfrm>
            <a:off x="5486400" y="5641848"/>
            <a:ext cx="548640" cy="0"/>
          </a:xfrm>
          <a:prstGeom prst="line">
            <a:avLst/>
          </a:prstGeom>
          <a:noFill/>
          <a:ln w="19050">
            <a:solidFill>
              <a:srgbClr val="1F3B30"/>
            </a:solidFill>
            <a:prstDash val="solid"/>
            <a:tailEnd type="triangle"/>
          </a:ln>
        </p:spPr>
      </p:sp>
      <p:sp>
        <p:nvSpPr>
          <p:cNvPr id="55" name="Shape 47"/>
          <p:cNvSpPr/>
          <p:nvPr/>
        </p:nvSpPr>
        <p:spPr>
          <a:xfrm>
            <a:off x="6035040" y="5257800"/>
            <a:ext cx="2194560" cy="777240"/>
          </a:xfrm>
          <a:prstGeom prst="roundRect">
            <a:avLst>
              <a:gd name="adj" fmla="val 49412"/>
            </a:avLst>
          </a:prstGeom>
          <a:solidFill>
            <a:srgbClr val="1F3B30"/>
          </a:solidFill>
          <a:ln w="12700">
            <a:solidFill>
              <a:srgbClr val="1F3B30"/>
            </a:solidFill>
            <a:prstDash val="solid"/>
          </a:ln>
        </p:spPr>
      </p:sp>
      <p:sp>
        <p:nvSpPr>
          <p:cNvPr id="56" name="Text 48"/>
          <p:cNvSpPr txBox="1"/>
          <p:nvPr/>
        </p:nvSpPr>
        <p:spPr>
          <a:xfrm>
            <a:off x="6035040" y="5257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จัดส่งแล้ว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shipped</a:t>
            </a:r>
            <a:endParaRPr lang="en-US" sz="1400" dirty="0"/>
          </a:p>
        </p:txBody>
      </p:sp>
      <p:sp>
        <p:nvSpPr>
          <p:cNvPr id="57" name="Shape 49"/>
          <p:cNvSpPr/>
          <p:nvPr/>
        </p:nvSpPr>
        <p:spPr>
          <a:xfrm>
            <a:off x="9052560" y="5257800"/>
            <a:ext cx="2587752" cy="777240"/>
          </a:xfrm>
          <a:prstGeom prst="roundRect">
            <a:avLst>
              <a:gd name="adj" fmla="val 49412"/>
            </a:avLst>
          </a:prstGeom>
          <a:solidFill>
            <a:srgbClr val="FFFFFF"/>
          </a:solidFill>
          <a:ln w="19050">
            <a:solidFill>
              <a:srgbClr val="B03A3A"/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9052560" y="5257800"/>
            <a:ext cx="2587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ยกเลิก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cancelled</a:t>
            </a:r>
            <a:endParaRPr lang="en-US" sz="1400" dirty="0"/>
          </a:p>
        </p:txBody>
      </p:sp>
      <p:sp>
        <p:nvSpPr>
          <p:cNvPr id="59" name="Text 51"/>
          <p:cNvSpPr txBox="1"/>
          <p:nvPr/>
        </p:nvSpPr>
        <p:spPr>
          <a:xfrm>
            <a:off x="9052560" y="608076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ยกเลิกออเดอร์ได้จากสถานะ pending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DATABASE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โครงสร้างข้อมูลหลัก (ER Diagram)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4612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3246120" cy="365760"/>
          </a:xfrm>
          <a:prstGeom prst="rect">
            <a:avLst/>
          </a:prstGeom>
          <a:solidFill>
            <a:srgbClr val="1F3B30"/>
          </a:solidFill>
          <a:ln w="12700">
            <a:solidFill>
              <a:srgbClr val="1F3B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645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user_rice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066544"/>
            <a:ext cx="30632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id (PK)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INT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299716"/>
            <a:ext cx="30632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username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VARCHAR UNIQUE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32888"/>
            <a:ext cx="30632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VARCHAR UNIQUE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766060"/>
            <a:ext cx="30632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password_hash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VARCHAR (bcrypt)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999232"/>
            <a:ext cx="30632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role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ENUM buyer/seller/admin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3232404"/>
            <a:ext cx="30632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full_name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VARCHAR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465576"/>
            <a:ext cx="30632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phone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VARCHAR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698748"/>
            <a:ext cx="30632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is_active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BOOLEAN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3931920"/>
            <a:ext cx="30632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email_verified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BOOLEAN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4165092"/>
            <a:ext cx="30632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created_at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DATETIME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3246120" cy="16230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572000"/>
            <a:ext cx="3246120" cy="365760"/>
          </a:xfrm>
          <a:prstGeom prst="rect">
            <a:avLst/>
          </a:prstGeom>
          <a:solidFill>
            <a:srgbClr val="1F3B30"/>
          </a:solidFill>
          <a:ln w="12700">
            <a:solidFill>
              <a:srgbClr val="1F3B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4572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email_verification_codes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4992624"/>
            <a:ext cx="30632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id (PK)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INT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5225796"/>
            <a:ext cx="30632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user_id (FK → user_rice)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INT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5458968"/>
            <a:ext cx="30632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otp_hash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CHAR(64)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5692140"/>
            <a:ext cx="30632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expires_at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DATETIME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5925312"/>
            <a:ext cx="30632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created_at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DATETIME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80560" y="1645920"/>
            <a:ext cx="3383280" cy="3721608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1645920"/>
            <a:ext cx="3383280" cy="365760"/>
          </a:xfrm>
          <a:prstGeom prst="rect">
            <a:avLst/>
          </a:prstGeom>
          <a:solidFill>
            <a:srgbClr val="1F3B30"/>
          </a:solidFill>
          <a:ln w="12700">
            <a:solidFill>
              <a:srgbClr val="1F3B3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riceproducts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90288" y="2066544"/>
            <a:ext cx="3200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id (PK)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INT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590288" y="2299716"/>
            <a:ext cx="3200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owner_id (FK → user_rice)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INT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590288" y="2532888"/>
            <a:ext cx="3200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title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VARCHAR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590288" y="2766060"/>
            <a:ext cx="3200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description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TEXT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590288" y="2999232"/>
            <a:ext cx="3200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price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DECIMAL(12,2)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590288" y="3232404"/>
            <a:ext cx="3200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stock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INT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590288" y="3465576"/>
            <a:ext cx="3200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rice_standard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general/GI/Organic/GAP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590288" y="3698748"/>
            <a:ext cx="3200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rice_variety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VARCHAR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590288" y="3931920"/>
            <a:ext cx="3200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unit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VARCHAR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4590288" y="4165092"/>
            <a:ext cx="3200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image_url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TEXT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590288" y="4398264"/>
            <a:ext cx="3200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broken_rice_percentage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FLOAT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4590288" y="4631436"/>
            <a:ext cx="3200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ai_verified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BOOLEAN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4590288" y="4864608"/>
            <a:ext cx="3200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is_active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BOOLEAN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4590288" y="5097780"/>
            <a:ext cx="3200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created_at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DATETIME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229600" y="1645920"/>
            <a:ext cx="3410712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0" y="1645920"/>
            <a:ext cx="3410712" cy="365760"/>
          </a:xfrm>
          <a:prstGeom prst="rect">
            <a:avLst/>
          </a:prstGeom>
          <a:solidFill>
            <a:srgbClr val="1F3B30"/>
          </a:solidFill>
          <a:ln w="12700">
            <a:solidFill>
              <a:srgbClr val="1F3B3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39328" y="164592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order_rice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8339328" y="2066544"/>
            <a:ext cx="32278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id (PK)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INT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8339328" y="2299716"/>
            <a:ext cx="32278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product_id (FK → riceproducts)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INT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8339328" y="2532888"/>
            <a:ext cx="32278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buyer_id (FK → user_rice)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INT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8339328" y="2766060"/>
            <a:ext cx="32278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seller_id (FK → user_rice)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INT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8339328" y="2999232"/>
            <a:ext cx="32278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quantity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DECIMAL(10,2)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8339328" y="3232404"/>
            <a:ext cx="32278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unit_price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DECIMAL(10,2) snapshot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8339328" y="3465576"/>
            <a:ext cx="32278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total_amount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DECIMAL(12,2)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8339328" y="3698748"/>
            <a:ext cx="32278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status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pending/confirmed/shipped/cancelled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8339328" y="3931920"/>
            <a:ext cx="32278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note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VARCHAR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8339328" y="4165092"/>
            <a:ext cx="32278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created_at, updated_at</a:t>
            </a:r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DATETIME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794760" y="2414016"/>
            <a:ext cx="685800" cy="0"/>
          </a:xfrm>
          <a:prstGeom prst="line">
            <a:avLst/>
          </a:prstGeom>
          <a:noFill/>
          <a:ln w="19050">
            <a:solidFill>
              <a:srgbClr val="B5652E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3794760" y="21031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1–N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863840" y="2414016"/>
            <a:ext cx="365760" cy="0"/>
          </a:xfrm>
          <a:prstGeom prst="line">
            <a:avLst/>
          </a:prstGeom>
          <a:noFill/>
          <a:ln w="19050">
            <a:solidFill>
              <a:srgbClr val="B5652E"/>
            </a:solidFill>
            <a:prstDash val="solid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7845552" y="2103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1–N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4480560" y="5486400"/>
            <a:ext cx="7159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user_rice → email_verification_codes : 1–N (ON DELETE CASCADE)   ·   user_rice → order_rice : 1–N ทั้ง buyer_id และ seller_id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4480560" y="6080760"/>
            <a:ext cx="7159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หมายเหตุ: </a:t>
            </a:r>
            <a:pPr indent="0" marL="0">
              <a:buNone/>
            </a:pPr>
            <a:r>
              <a:rPr lang="en-US" sz="11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FK ของ order_rice คุมความถูกต้องที่ backend (hosting ไม่ให้สิทธิ์สร้าง FK constraint) · ชื่อผู้ขาย (owner_name) ดึงด้วย JOIN user_rice ตอนเรียกรายการสินค้า · ราคาตลาดดึงสดจาก API ภาครัฐ (cache 1 ชม.) · ผล AI บันทึกเฉพาะ broken_rice_percentage + ai_verified ตอนลงขาย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MOBILE APP UI &amp; NAVIGATION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โครงเมนูและการนำทางระหว่างหน้าจอ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355848" y="1600200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1F3B30"/>
          </a:solidFill>
          <a:ln w="12700">
            <a:solidFill>
              <a:srgbClr val="1F3B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355848" y="1600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หน้าแรก (Home) — รายการสินค้า + ค้นหา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55848" y="2240280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55848" y="2240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เข้าสู่ระบบ / สมัครสมาชิก (Email OTP)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4476" y="2057400"/>
            <a:ext cx="0" cy="182880"/>
          </a:xfrm>
          <a:prstGeom prst="line">
            <a:avLst/>
          </a:prstGeom>
          <a:noFill/>
          <a:ln w="19050">
            <a:solidFill>
              <a:srgbClr val="1F3B3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54580" y="2926080"/>
            <a:ext cx="7534656" cy="0"/>
          </a:xfrm>
          <a:prstGeom prst="line">
            <a:avLst/>
          </a:prstGeom>
          <a:noFill/>
          <a:ln w="19050">
            <a:solidFill>
              <a:srgbClr val="1F3B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4476" y="2697480"/>
            <a:ext cx="0" cy="228600"/>
          </a:xfrm>
          <a:prstGeom prst="line">
            <a:avLst/>
          </a:prstGeom>
          <a:noFill/>
          <a:ln w="19050">
            <a:solidFill>
              <a:srgbClr val="1F3B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4580" y="2926080"/>
            <a:ext cx="0" cy="228600"/>
          </a:xfrm>
          <a:prstGeom prst="line">
            <a:avLst/>
          </a:prstGeom>
          <a:noFill/>
          <a:ln w="19050">
            <a:solidFill>
              <a:srgbClr val="1F3B3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21908" y="2926080"/>
            <a:ext cx="0" cy="228600"/>
          </a:xfrm>
          <a:prstGeom prst="line">
            <a:avLst/>
          </a:prstGeom>
          <a:noFill/>
          <a:ln w="19050">
            <a:solidFill>
              <a:srgbClr val="1F3B3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889236" y="2926080"/>
            <a:ext cx="0" cy="228600"/>
          </a:xfrm>
          <a:prstGeom prst="line">
            <a:avLst/>
          </a:prstGeom>
          <a:noFill/>
          <a:ln w="19050">
            <a:solidFill>
              <a:srgbClr val="1F3B3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3154680"/>
            <a:ext cx="3611880" cy="502920"/>
          </a:xfrm>
          <a:prstGeom prst="roundRect">
            <a:avLst>
              <a:gd name="adj" fmla="val 21818"/>
            </a:avLst>
          </a:prstGeom>
          <a:solidFill>
            <a:srgbClr val="D9A52B"/>
          </a:solidFill>
          <a:ln w="12700">
            <a:solidFill>
              <a:srgbClr val="D9A5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1546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 Seller (เกษตรกร)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886200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Grading — ตรวจคุณภาพข้าว (กล้อง / คลังรูป)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จัดการสินค้า (เพิ่ม / แก้ไข / ลบ)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ออเดอร์ที่เข้ามา (Incoming)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อัปเดตสถานะออเดอร์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ตั้งค่าบัญชี / เปลี่ยนรหัสผ่าน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15968" y="3154680"/>
            <a:ext cx="3611880" cy="502920"/>
          </a:xfrm>
          <a:prstGeom prst="roundRect">
            <a:avLst>
              <a:gd name="adj" fmla="val 21818"/>
            </a:avLst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15968" y="31546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 Buyer (ผู้ซื้อ)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15968" y="37490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44568" y="3886200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 / ดูสินค้า (Products)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ราคาตลาด (Prices)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รายละเอียดสินค้า + ชื่อผู้ขาย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คำสั่งซื้อของฉัน (Orders)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ตั้งค่าบัญชี (Settings)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83296" y="3154680"/>
            <a:ext cx="3611880" cy="502920"/>
          </a:xfrm>
          <a:prstGeom prst="roundRect">
            <a:avLst>
              <a:gd name="adj" fmla="val 21818"/>
            </a:avLst>
          </a:prstGeom>
          <a:solidFill>
            <a:srgbClr val="B5652E"/>
          </a:solidFill>
          <a:ln w="12700">
            <a:solidFill>
              <a:srgbClr val="B565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83296" y="31546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 Admin (ผู้ดูแล)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83296" y="37490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11896" y="3886200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 Dashboard (ภาพรวมระบบ)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จัดการผู้ใช้ (เปิด / ปิดบัญชี)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ตรวจสอบสินค้าและผล AI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ดูออเดอร์ทั้งหมด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ทุกหน้าใช้ Bottom Navigation เดียวกัน · แต่ละบทบาทเห็นเฉพาะเมนูที่มีสิทธิ์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MAIN SCREENS · SELLER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หน้าจอหลักฝั่งผู้ขาย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31720" cy="4114800"/>
          </a:xfrm>
          <a:prstGeom prst="roundRect">
            <a:avLst>
              <a:gd name="adj" fmla="val 11765"/>
            </a:avLst>
          </a:prstGeom>
          <a:solidFill>
            <a:srgbClr val="1F3B30"/>
          </a:solidFill>
          <a:ln w="12700">
            <a:solidFill>
              <a:srgbClr val="1F3B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28800"/>
            <a:ext cx="2112264" cy="3840480"/>
          </a:xfrm>
          <a:prstGeom prst="roundRect">
            <a:avLst>
              <a:gd name="adj" fmla="val 8658"/>
            </a:avLst>
          </a:prstGeom>
          <a:solidFill>
            <a:srgbClr val="EEF1EC"/>
          </a:solidFill>
          <a:ln w="12700">
            <a:solidFill>
              <a:srgbClr val="B9C2BC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3337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886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วางภาพหน้าจอจากแอป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ตรงนี้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5943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  </a:t>
            </a:r>
            <a:pPr algn="ctr" indent="0" marL="0">
              <a:buNone/>
            </a:pPr>
            <a:r>
              <a:rPr lang="en-US" sz="14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Login / สมัคร (OTP)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68624" y="1691640"/>
            <a:ext cx="2331720" cy="4114800"/>
          </a:xfrm>
          <a:prstGeom prst="roundRect">
            <a:avLst>
              <a:gd name="adj" fmla="val 11765"/>
            </a:avLst>
          </a:prstGeom>
          <a:solidFill>
            <a:srgbClr val="1F3B30"/>
          </a:solidFill>
          <a:ln w="12700">
            <a:solidFill>
              <a:srgbClr val="1F3B3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78352" y="1828800"/>
            <a:ext cx="2112264" cy="3840480"/>
          </a:xfrm>
          <a:prstGeom prst="roundRect">
            <a:avLst>
              <a:gd name="adj" fmla="val 8658"/>
            </a:avLst>
          </a:prstGeom>
          <a:solidFill>
            <a:srgbClr val="EEF1EC"/>
          </a:solidFill>
          <a:ln w="12700">
            <a:solidFill>
              <a:srgbClr val="B9C2BC"/>
            </a:solidFill>
            <a:prstDash val="dash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884" y="33375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1504" y="3886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วางภาพหน้าจอจากแอป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ตรงนี้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377184" y="5943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  </a:t>
            </a:r>
            <a:pPr algn="ctr" indent="0" marL="0">
              <a:buNone/>
            </a:pPr>
            <a:r>
              <a:rPr lang="en-US" sz="14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หน้าแรก + ค้นหา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88608" y="1691640"/>
            <a:ext cx="2331720" cy="4114800"/>
          </a:xfrm>
          <a:prstGeom prst="roundRect">
            <a:avLst>
              <a:gd name="adj" fmla="val 11765"/>
            </a:avLst>
          </a:prstGeom>
          <a:solidFill>
            <a:srgbClr val="1F3B30"/>
          </a:solidFill>
          <a:ln w="12700">
            <a:solidFill>
              <a:srgbClr val="1F3B3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98336" y="1828800"/>
            <a:ext cx="2112264" cy="3840480"/>
          </a:xfrm>
          <a:prstGeom prst="roundRect">
            <a:avLst>
              <a:gd name="adj" fmla="val 8658"/>
            </a:avLst>
          </a:prstGeom>
          <a:solidFill>
            <a:srgbClr val="EEF1EC"/>
          </a:solidFill>
          <a:ln w="12700">
            <a:solidFill>
              <a:srgbClr val="B9C2BC"/>
            </a:solidFill>
            <a:prstDash val="dash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868" y="33375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71488" y="3886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วางภาพหน้าจอจากแอป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ตรงนี้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297168" y="5943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  </a:t>
            </a:r>
            <a:pPr algn="ctr" indent="0" marL="0">
              <a:buNone/>
            </a:pPr>
            <a:r>
              <a:rPr lang="en-US" sz="14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Grading (กล้อง)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9308592" y="1691640"/>
            <a:ext cx="2331720" cy="4114800"/>
          </a:xfrm>
          <a:prstGeom prst="roundRect">
            <a:avLst>
              <a:gd name="adj" fmla="val 11765"/>
            </a:avLst>
          </a:prstGeom>
          <a:solidFill>
            <a:srgbClr val="1F3B30"/>
          </a:solidFill>
          <a:ln w="12700">
            <a:solidFill>
              <a:srgbClr val="1F3B3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418320" y="1828800"/>
            <a:ext cx="2112264" cy="3840480"/>
          </a:xfrm>
          <a:prstGeom prst="roundRect">
            <a:avLst>
              <a:gd name="adj" fmla="val 8658"/>
            </a:avLst>
          </a:prstGeom>
          <a:solidFill>
            <a:srgbClr val="EEF1EC"/>
          </a:solidFill>
          <a:ln w="12700">
            <a:solidFill>
              <a:srgbClr val="B9C2BC"/>
            </a:solidFill>
            <a:prstDash val="dash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5852" y="33375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491472" y="3886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วางภาพหน้าจอจากแอป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ตรงนี้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9217152" y="5943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  </a:t>
            </a:r>
            <a:pPr algn="ctr" indent="0" marL="0">
              <a:buNone/>
            </a:pPr>
            <a:r>
              <a:rPr lang="en-US" sz="14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จัดการสินค้า (CRUD)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MAIN SCREENS · BUYER &amp; ADMIN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หน้าจอหลักฝั่งผู้ซื้อและผู้ดูแล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31720" cy="4114800"/>
          </a:xfrm>
          <a:prstGeom prst="roundRect">
            <a:avLst>
              <a:gd name="adj" fmla="val 11765"/>
            </a:avLst>
          </a:prstGeom>
          <a:solidFill>
            <a:srgbClr val="1F3B30"/>
          </a:solidFill>
          <a:ln w="12700">
            <a:solidFill>
              <a:srgbClr val="1F3B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28800"/>
            <a:ext cx="2112264" cy="3840480"/>
          </a:xfrm>
          <a:prstGeom prst="roundRect">
            <a:avLst>
              <a:gd name="adj" fmla="val 8658"/>
            </a:avLst>
          </a:prstGeom>
          <a:solidFill>
            <a:srgbClr val="EEF1EC"/>
          </a:solidFill>
          <a:ln w="12700">
            <a:solidFill>
              <a:srgbClr val="B9C2BC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3337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886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วางภาพหน้าจอจากแอป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ตรงนี้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5943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  </a:t>
            </a:r>
            <a:pPr algn="ctr" indent="0" marL="0">
              <a:buNone/>
            </a:pPr>
            <a:r>
              <a:rPr lang="en-US" sz="14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 / ดูสินค้า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68624" y="1691640"/>
            <a:ext cx="2331720" cy="4114800"/>
          </a:xfrm>
          <a:prstGeom prst="roundRect">
            <a:avLst>
              <a:gd name="adj" fmla="val 11765"/>
            </a:avLst>
          </a:prstGeom>
          <a:solidFill>
            <a:srgbClr val="1F3B30"/>
          </a:solidFill>
          <a:ln w="12700">
            <a:solidFill>
              <a:srgbClr val="1F3B3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78352" y="1828800"/>
            <a:ext cx="2112264" cy="3840480"/>
          </a:xfrm>
          <a:prstGeom prst="roundRect">
            <a:avLst>
              <a:gd name="adj" fmla="val 8658"/>
            </a:avLst>
          </a:prstGeom>
          <a:solidFill>
            <a:srgbClr val="EEF1EC"/>
          </a:solidFill>
          <a:ln w="12700">
            <a:solidFill>
              <a:srgbClr val="B9C2BC"/>
            </a:solidFill>
            <a:prstDash val="dash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884" y="33375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1504" y="3886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วางภาพหน้าจอจากแอป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ตรงนี้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377184" y="5943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  </a:t>
            </a:r>
            <a:pPr algn="ctr" indent="0" marL="0">
              <a:buNone/>
            </a:pPr>
            <a:r>
              <a:rPr lang="en-US" sz="14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สั่งซื้อสินค้า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88608" y="1691640"/>
            <a:ext cx="2331720" cy="4114800"/>
          </a:xfrm>
          <a:prstGeom prst="roundRect">
            <a:avLst>
              <a:gd name="adj" fmla="val 11765"/>
            </a:avLst>
          </a:prstGeom>
          <a:solidFill>
            <a:srgbClr val="1F3B30"/>
          </a:solidFill>
          <a:ln w="12700">
            <a:solidFill>
              <a:srgbClr val="1F3B3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98336" y="1828800"/>
            <a:ext cx="2112264" cy="3840480"/>
          </a:xfrm>
          <a:prstGeom prst="roundRect">
            <a:avLst>
              <a:gd name="adj" fmla="val 8658"/>
            </a:avLst>
          </a:prstGeom>
          <a:solidFill>
            <a:srgbClr val="EEF1EC"/>
          </a:solidFill>
          <a:ln w="12700">
            <a:solidFill>
              <a:srgbClr val="B9C2BC"/>
            </a:solidFill>
            <a:prstDash val="dash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868" y="33375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71488" y="3886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วางภาพหน้าจอจากแอป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ตรงนี้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297168" y="5943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  </a:t>
            </a:r>
            <a:pPr algn="ctr" indent="0" marL="0">
              <a:buNone/>
            </a:pPr>
            <a:r>
              <a:rPr lang="en-US" sz="14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คำสั่งซื้อของฉัน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9308592" y="1691640"/>
            <a:ext cx="2331720" cy="4114800"/>
          </a:xfrm>
          <a:prstGeom prst="roundRect">
            <a:avLst>
              <a:gd name="adj" fmla="val 11765"/>
            </a:avLst>
          </a:prstGeom>
          <a:solidFill>
            <a:srgbClr val="1F3B30"/>
          </a:solidFill>
          <a:ln w="12700">
            <a:solidFill>
              <a:srgbClr val="1F3B3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418320" y="1828800"/>
            <a:ext cx="2112264" cy="3840480"/>
          </a:xfrm>
          <a:prstGeom prst="roundRect">
            <a:avLst>
              <a:gd name="adj" fmla="val 8658"/>
            </a:avLst>
          </a:prstGeom>
          <a:solidFill>
            <a:srgbClr val="EEF1EC"/>
          </a:solidFill>
          <a:ln w="12700">
            <a:solidFill>
              <a:srgbClr val="B9C2BC"/>
            </a:solidFill>
            <a:prstDash val="dash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5852" y="33375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491472" y="3886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วางภาพหน้าจอจากแอป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ตรงนี้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9217152" y="5943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  </a:t>
            </a:r>
            <a:pPr algn="ctr" indent="0" marL="0">
              <a:buNone/>
            </a:pPr>
            <a:r>
              <a:rPr lang="en-US" sz="14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TECHNOLOGY &amp; AI INTEGRATION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เทคโนโลยีที่ใช้ในระบบ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675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937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Layer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Technology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Mobile App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React Native 0.86 + Expo SDK 57 (TypeScript)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Navigation / State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React Navigation (native stack) · AsyncStorage เก็บ token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Camera / Image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expo-image-picker (กล้อง + คลังรูป) · expo-file-system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Backend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FastAPI (Python) — REST API · JWT Bearer token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Database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MySQL (phpMyAdmin) บน server มหาวิทยาลัย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AI Model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YOLOv8 (Ultralytics) custom-trained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Dev Tools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Git / GitHub, VS Code, Docker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Run on Device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B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Expo Go / Android build บนมือถือจริง (ชี้ไป Backend เดียวกับเว็บ)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645920"/>
            <a:ext cx="4142232" cy="4114800"/>
          </a:xfrm>
          <a:prstGeom prst="roundRect">
            <a:avLst>
              <a:gd name="adj" fmla="val 2222"/>
            </a:avLst>
          </a:prstGeom>
          <a:solidFill>
            <a:srgbClr val="1F3B30"/>
          </a:solidFill>
          <a:ln w="12700">
            <a:solidFill>
              <a:srgbClr val="1F3B3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ทำงานอย่างไร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772400" y="2286000"/>
            <a:ext cx="438912" cy="438912"/>
          </a:xfrm>
          <a:prstGeom prst="ellipse">
            <a:avLst/>
          </a:prstGeom>
          <a:solidFill>
            <a:srgbClr val="2C5846"/>
          </a:solidFill>
          <a:ln w="12700">
            <a:solidFill>
              <a:srgbClr val="2C584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2395728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321040" y="22860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ผู้ขายถ่ายรูป / เลือกรูปเมล็ดข้าวในแอป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772400" y="2852928"/>
            <a:ext cx="438912" cy="438912"/>
          </a:xfrm>
          <a:prstGeom prst="ellipse">
            <a:avLst/>
          </a:prstGeom>
          <a:solidFill>
            <a:srgbClr val="2C5846"/>
          </a:solidFill>
          <a:ln w="12700">
            <a:solidFill>
              <a:srgbClr val="2C584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296265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321040" y="285292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YOLOv8 ตรวจจับเมล็ดสมบูรณ์ / หัก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772400" y="3419856"/>
            <a:ext cx="438912" cy="438912"/>
          </a:xfrm>
          <a:prstGeom prst="ellipse">
            <a:avLst/>
          </a:prstGeom>
          <a:solidFill>
            <a:srgbClr val="2C5846"/>
          </a:solidFill>
          <a:ln w="12700">
            <a:solidFill>
              <a:srgbClr val="2C584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3529584"/>
            <a:ext cx="219456" cy="21945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321040" y="341985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 % เมล็ดหัก → จัดเกรด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7772400" y="3986784"/>
            <a:ext cx="438912" cy="438912"/>
          </a:xfrm>
          <a:prstGeom prst="ellipse">
            <a:avLst/>
          </a:prstGeom>
          <a:solidFill>
            <a:srgbClr val="2C5846"/>
          </a:solidFill>
          <a:ln w="12700">
            <a:solidFill>
              <a:srgbClr val="2C584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4096512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321040" y="398678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เทียบราคาตลาดภาครัฐ → แนะนำราคา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777240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ตัวอย่างเกณฑ์จัดเกรด (% เมล็ดหักที่ AI นับได้)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7772400" y="493776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2C5846"/>
          </a:solidFill>
          <a:ln w="12700">
            <a:solidFill>
              <a:srgbClr val="2C5846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7772400" y="49377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≤ 5%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ข้าว 5%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8705088" y="493776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2C5846"/>
          </a:solidFill>
          <a:ln w="12700">
            <a:solidFill>
              <a:srgbClr val="2C5846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8705088" y="49377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≤ 10%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ข้าว 10%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9637776" y="493776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2C5846"/>
          </a:solidFill>
          <a:ln w="12700">
            <a:solidFill>
              <a:srgbClr val="2C5846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9637776" y="49377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≤ 15%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ข้าว 15%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10570464" y="493776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2C5846"/>
          </a:solidFill>
          <a:ln w="12700">
            <a:solidFill>
              <a:srgbClr val="2C5846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10570464" y="49377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&gt; 15%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ข้าว 25%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548640" y="585216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BF0D9"/>
          </a:solidFill>
          <a:ln w="12700">
            <a:solidFill>
              <a:srgbClr val="D9A52B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777240" y="5852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ผลการเทรนโมเดล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2926080" y="5852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______ ภาพ</a:t>
            </a:r>
            <a:pPr indent="0" marL="0">
              <a:buNone/>
            </a:pPr>
            <a:r>
              <a:rPr lang="en-US" sz="11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Dataset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6035040" y="5852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______ %</a:t>
            </a:r>
            <a:pPr indent="0" marL="0">
              <a:buNone/>
            </a:pPr>
            <a:r>
              <a:rPr lang="en-US" sz="11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mAP@50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9144000" y="5852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______ วิ/ภาพ</a:t>
            </a:r>
            <a:pPr indent="0" marL="0">
              <a:buNone/>
            </a:pPr>
            <a:r>
              <a:rPr lang="en-US" sz="1100" dirty="0">
                <a:solidFill>
                  <a:srgbClr val="5F6B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เวลาประมวลผล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ผลลัพธ์ที่คาดหวัง และคุณค่าของโปรเจกต์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Expected Outcomes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685800" cy="685800"/>
          </a:xfrm>
          <a:prstGeom prst="ellipse">
            <a:avLst/>
          </a:prstGeom>
          <a:solidFill>
            <a:srgbClr val="2C5846"/>
          </a:solidFill>
          <a:ln w="12700">
            <a:solidFill>
              <a:srgbClr val="2C584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245745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2860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เกษตรกรตั้งราคาได้แม่นยำขึ้นด้วยข้อมูลจาก AI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685800" cy="685800"/>
          </a:xfrm>
          <a:prstGeom prst="ellipse">
            <a:avLst/>
          </a:prstGeom>
          <a:solidFill>
            <a:srgbClr val="2C5846"/>
          </a:solidFill>
          <a:ln w="12700">
            <a:solidFill>
              <a:srgbClr val="2C584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3417570"/>
            <a:ext cx="342900" cy="3429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32461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ลดการถูกกดราคาจากพ่อค้าคนกลาง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4206240"/>
            <a:ext cx="685800" cy="685800"/>
          </a:xfrm>
          <a:prstGeom prst="ellipse">
            <a:avLst/>
          </a:prstGeom>
          <a:solidFill>
            <a:srgbClr val="2C5846"/>
          </a:solidFill>
          <a:ln w="12700">
            <a:solidFill>
              <a:srgbClr val="2C584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437769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42062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ซื้อขายตรงได้สะดวกและโปร่งใสขึ้น ผ่านแอปมือถือ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48640" y="5166360"/>
            <a:ext cx="685800" cy="685800"/>
          </a:xfrm>
          <a:prstGeom prst="ellipse">
            <a:avLst/>
          </a:prstGeom>
          <a:solidFill>
            <a:srgbClr val="2C5846"/>
          </a:solidFill>
          <a:ln w="12700">
            <a:solidFill>
              <a:srgbClr val="2C5846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5337810"/>
            <a:ext cx="342900" cy="3429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51663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ต่อยอดไปสู่สินค้าเกษตรชนิดอื่นในอนาคต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7040880" y="1737360"/>
            <a:ext cx="4599432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269480" y="1965960"/>
            <a:ext cx="685800" cy="685800"/>
          </a:xfrm>
          <a:prstGeom prst="ellipse">
            <a:avLst/>
          </a:prstGeom>
          <a:solidFill>
            <a:srgbClr val="FBF0D9"/>
          </a:solidFill>
          <a:ln w="12700">
            <a:solidFill>
              <a:srgbClr val="FBF0D9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0930" y="2137410"/>
            <a:ext cx="342900" cy="3429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138160" y="19659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KPI วัดความสำเร็จ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7315200" y="2880360"/>
            <a:ext cx="4114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จำนวนเกษตรกรที่ลงขายสินค้า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อัตราออเดอร์ที่จัดส่งสำเร็จ (shipped)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ความแม่นยำของโมเดล AI (mAP)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ราคาที่เกษตรกรได้เทียบราคาตลาด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เวลาตั้งแต่ถ่ายรูปจนลงขายได้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7315200" y="5212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565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ใช้ข้อมูลจาก Dashboard ติดตาม KPI ได้ทันที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219456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12480" y="39319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Demo บนมือถือจริง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ผ่าน Expo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LIVE DEMO &amp; Q&amp;A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ลำดับการสาธิตบนมือถือจริง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D9A52B"/>
          </a:solidFill>
          <a:ln w="12700">
            <a:solidFill>
              <a:srgbClr val="D9A5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783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Seller: Login + ดู Dashboard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89120" y="1828800"/>
            <a:ext cx="640080" cy="640080"/>
          </a:xfrm>
          <a:prstGeom prst="ellipse">
            <a:avLst/>
          </a:prstGeom>
          <a:solidFill>
            <a:srgbClr val="D9A52B"/>
          </a:solidFill>
          <a:ln w="12700">
            <a:solidFill>
              <a:srgbClr val="D9A5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891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212080" y="1783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Grading: ถ่ายรูป → ได้ % หัก + ราคา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2926080"/>
            <a:ext cx="640080" cy="640080"/>
          </a:xfrm>
          <a:prstGeom prst="ellipse">
            <a:avLst/>
          </a:prstGeom>
          <a:solidFill>
            <a:srgbClr val="D9A52B"/>
          </a:solidFill>
          <a:ln w="12700">
            <a:solidFill>
              <a:srgbClr val="D9A5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28803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ลงขาย / แก้ไข / ลบสินค้า (CRUD)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89120" y="2926080"/>
            <a:ext cx="640080" cy="640080"/>
          </a:xfrm>
          <a:prstGeom prst="ellipse">
            <a:avLst/>
          </a:prstGeom>
          <a:solidFill>
            <a:srgbClr val="D9A52B"/>
          </a:solidFill>
          <a:ln w="12700">
            <a:solidFill>
              <a:srgbClr val="D9A52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891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212080" y="28803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Buyer: ค้นหาและสั่งซื้อ → สต็อกลดลง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4023360"/>
            <a:ext cx="640080" cy="640080"/>
          </a:xfrm>
          <a:prstGeom prst="ellipse">
            <a:avLst/>
          </a:prstGeom>
          <a:solidFill>
            <a:srgbClr val="D9A52B"/>
          </a:solidFill>
          <a:ln w="12700">
            <a:solidFill>
              <a:srgbClr val="D9A52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371600" y="3977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Seller: อัปเดตสถานะออเดอร์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389120" y="4023360"/>
            <a:ext cx="640080" cy="640080"/>
          </a:xfrm>
          <a:prstGeom prst="ellipse">
            <a:avLst/>
          </a:prstGeom>
          <a:solidFill>
            <a:srgbClr val="D9A52B"/>
          </a:solidFill>
          <a:ln w="12700">
            <a:solidFill>
              <a:srgbClr val="D9A52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38912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212080" y="3977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Admin: Dashboard + ข้อมูลใน DB อัปเดต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394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D9A5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ขอบคุณครับ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Rice Marketplace - AI (Mobile App)</dc:title>
  <dc:subject>PptxGenJS Presentation</dc:subject>
  <dc:creator>Smart Rice Marketplace Team</dc:creator>
  <cp:lastModifiedBy>Smart Rice Marketplace Team</cp:lastModifiedBy>
  <cp:revision>1</cp:revision>
  <dcterms:created xsi:type="dcterms:W3CDTF">2026-10-07T11:12:24Z</dcterms:created>
  <dcterms:modified xsi:type="dcterms:W3CDTF">2026-10-07T11:12:24Z</dcterms:modified>
</cp:coreProperties>
</file>